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k 4" id="{de38efcf-1c67-2bf0-3de2-9f807c811e8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063240"/>
            <a:ext cx="109728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09728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Data Analyst Internship  |  Task 4: Dashboard Design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972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Sales &amp; Financial Executive Dashboard</a:t>
            </a:r>
            <a:endParaRPr lang="en-US" sz="3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Analyst Internship  |  Task 4: Dashboard Design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 &amp; Approach</a:t>
            </a:r>
            <a:endParaRPr lang="en-US" sz="2800" dirty="0"/>
          </a:p>
        </p:txBody>
      </p:sp>
      <p:sp>
        <p:nvSpPr>
          <p:cNvPr id="3" name="AtAGlanceCard"/>
          <p:cNvSpPr/>
          <p:nvPr/>
        </p:nvSpPr>
        <p:spPr>
          <a:xfrm>
            <a:off x="54864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AtAGlanceText"/>
          <p:cNvSpPr txBox="1"/>
          <p:nvPr/>
        </p:nvSpPr>
        <p:spPr>
          <a:xfrm>
            <a:off x="77724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OBJECTIVE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Design an interactive dashboard for business stakeholders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TOOL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Power BI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DATASET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financial_data.csv, cleaned to financial_data_cleaned.csv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DELIVERABLES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dashboard + PPT summary</a:t>
            </a:r>
            <a:endParaRPr lang="en-US" sz="1100" dirty="0"/>
          </a:p>
        </p:txBody>
      </p:sp>
      <p:sp>
        <p:nvSpPr>
          <p:cNvPr id="5" name="StepCircle1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Num1"/>
          <p:cNvSpPr txBox="1"/>
          <p:nvPr/>
        </p:nvSpPr>
        <p:spPr>
          <a:xfrm>
            <a:off x="4754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Text1"/>
          <p:cNvSpPr txBox="1"/>
          <p:nvPr/>
        </p:nvSpPr>
        <p:spPr>
          <a:xfrm>
            <a:off x="548640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Clean the raw data</a:t>
            </a:r>
            <a:endParaRPr lang="en-US" sz="1500" dirty="0"/>
          </a:p>
        </p:txBody>
      </p:sp>
      <p:sp>
        <p:nvSpPr>
          <p:cNvPr id="8" name="StepCircle2"/>
          <p:cNvSpPr/>
          <p:nvPr/>
        </p:nvSpPr>
        <p:spPr>
          <a:xfrm>
            <a:off x="4754880" y="2240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Num2"/>
          <p:cNvSpPr txBox="1"/>
          <p:nvPr/>
        </p:nvSpPr>
        <p:spPr>
          <a:xfrm>
            <a:off x="47548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Text2"/>
          <p:cNvSpPr txBox="1"/>
          <p:nvPr/>
        </p:nvSpPr>
        <p:spPr>
          <a:xfrm>
            <a:off x="54864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Import into Power BI</a:t>
            </a:r>
            <a:endParaRPr lang="en-US" sz="1500" dirty="0"/>
          </a:p>
        </p:txBody>
      </p:sp>
      <p:sp>
        <p:nvSpPr>
          <p:cNvPr id="11" name="StepCircle3"/>
          <p:cNvSpPr/>
          <p:nvPr/>
        </p:nvSpPr>
        <p:spPr>
          <a:xfrm>
            <a:off x="475488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Num3"/>
          <p:cNvSpPr txBox="1"/>
          <p:nvPr/>
        </p:nvSpPr>
        <p:spPr>
          <a:xfrm>
            <a:off x="4754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Text3"/>
          <p:cNvSpPr txBox="1"/>
          <p:nvPr/>
        </p:nvSpPr>
        <p:spPr>
          <a:xfrm>
            <a:off x="548640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KPI cards, slicer and trend chart</a:t>
            </a:r>
            <a:endParaRPr lang="en-US" sz="1500" dirty="0"/>
          </a:p>
        </p:txBody>
      </p:sp>
      <p:sp>
        <p:nvSpPr>
          <p:cNvPr id="14" name="StepCircle4"/>
          <p:cNvSpPr/>
          <p:nvPr/>
        </p:nvSpPr>
        <p:spPr>
          <a:xfrm>
            <a:off x="4754880" y="3977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Num4"/>
          <p:cNvSpPr txBox="1"/>
          <p:nvPr/>
        </p:nvSpPr>
        <p:spPr>
          <a:xfrm>
            <a:off x="4754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StepText4"/>
          <p:cNvSpPr txBox="1"/>
          <p:nvPr/>
        </p:nvSpPr>
        <p:spPr>
          <a:xfrm>
            <a:off x="5486400" y="3886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Summarize the results in this PPT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Overview</a:t>
            </a:r>
            <a:endParaRPr lang="en-US" sz="2800" dirty="0"/>
          </a:p>
        </p:txBody>
      </p:sp>
      <p:pic>
        <p:nvPicPr>
          <p:cNvPr id="3" name="DashboardScreenshot" descr="Power BI Sales &amp; Financial Executiv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13" y="1143000"/>
            <a:ext cx="5976173" cy="3291840"/>
          </a:xfrm>
          <a:prstGeom prst="rect">
            <a:avLst/>
          </a:prstGeom>
        </p:spPr>
      </p:pic>
      <p:sp>
        <p:nvSpPr>
          <p:cNvPr id="4" name="ScreenshotCaption"/>
          <p:cNvSpPr txBox="1"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Power BI view with the Region slicer set to East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Performance Indicators</a:t>
            </a:r>
            <a:endParaRPr lang="en-US" sz="2800" dirty="0"/>
          </a:p>
        </p:txBody>
      </p:sp>
      <p:sp>
        <p:nvSpPr>
          <p:cNvPr id="3" name="KpiCard1"/>
          <p:cNvSpPr/>
          <p:nvPr/>
        </p:nvSpPr>
        <p:spPr>
          <a:xfrm>
            <a:off x="54864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KpiLabel1"/>
          <p:cNvSpPr txBox="1"/>
          <p:nvPr/>
        </p:nvSpPr>
        <p:spPr>
          <a:xfrm>
            <a:off x="6858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TOTAL SALES</a:t>
            </a:r>
            <a:endParaRPr lang="en-US" sz="1200" dirty="0"/>
          </a:p>
        </p:txBody>
      </p:sp>
      <p:sp>
        <p:nvSpPr>
          <p:cNvPr id="5" name="KpiValue1"/>
          <p:cNvSpPr txBox="1"/>
          <p:nvPr/>
        </p:nvSpPr>
        <p:spPr>
          <a:xfrm>
            <a:off x="64008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678.78K</a:t>
            </a:r>
            <a:endParaRPr lang="en-US" sz="3200" dirty="0"/>
          </a:p>
        </p:txBody>
      </p:sp>
      <p:sp>
        <p:nvSpPr>
          <p:cNvPr id="6" name="KpiNote1"/>
          <p:cNvSpPr txBox="1"/>
          <p:nvPr/>
        </p:nvSpPr>
        <p:spPr>
          <a:xfrm>
            <a:off x="68580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Sum of Sales</a:t>
            </a:r>
            <a:endParaRPr lang="en-US" sz="1200" dirty="0"/>
          </a:p>
        </p:txBody>
      </p:sp>
      <p:sp>
        <p:nvSpPr>
          <p:cNvPr id="7" name="KpiCard2"/>
          <p:cNvSpPr/>
          <p:nvPr/>
        </p:nvSpPr>
        <p:spPr>
          <a:xfrm>
            <a:off x="262128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KpiLabel2"/>
          <p:cNvSpPr txBox="1"/>
          <p:nvPr/>
        </p:nvSpPr>
        <p:spPr>
          <a:xfrm>
            <a:off x="27584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TOTAL PROFIT</a:t>
            </a:r>
            <a:endParaRPr lang="en-US" sz="1200" dirty="0"/>
          </a:p>
        </p:txBody>
      </p:sp>
      <p:sp>
        <p:nvSpPr>
          <p:cNvPr id="9" name="KpiValue2"/>
          <p:cNvSpPr txBox="1"/>
          <p:nvPr/>
        </p:nvSpPr>
        <p:spPr>
          <a:xfrm>
            <a:off x="271272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91.52K</a:t>
            </a:r>
            <a:endParaRPr lang="en-US" sz="3200" dirty="0"/>
          </a:p>
        </p:txBody>
      </p:sp>
      <p:sp>
        <p:nvSpPr>
          <p:cNvPr id="10" name="KpiNote2"/>
          <p:cNvSpPr txBox="1"/>
          <p:nvPr/>
        </p:nvSpPr>
        <p:spPr>
          <a:xfrm>
            <a:off x="275844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Sum of Profit</a:t>
            </a:r>
            <a:endParaRPr lang="en-US" sz="1200" dirty="0"/>
          </a:p>
        </p:txBody>
      </p:sp>
      <p:sp>
        <p:nvSpPr>
          <p:cNvPr id="11" name="KpiCard3"/>
          <p:cNvSpPr/>
          <p:nvPr/>
        </p:nvSpPr>
        <p:spPr>
          <a:xfrm>
            <a:off x="469392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KpiLabel3"/>
          <p:cNvSpPr txBox="1"/>
          <p:nvPr/>
        </p:nvSpPr>
        <p:spPr>
          <a:xfrm>
            <a:off x="483108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PROFIT MARGIN</a:t>
            </a:r>
            <a:endParaRPr lang="en-US" sz="1200" dirty="0"/>
          </a:p>
        </p:txBody>
      </p:sp>
      <p:sp>
        <p:nvSpPr>
          <p:cNvPr id="13" name="KpiValue3"/>
          <p:cNvSpPr txBox="1"/>
          <p:nvPr/>
        </p:nvSpPr>
        <p:spPr>
          <a:xfrm>
            <a:off x="478536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13.48%</a:t>
            </a:r>
            <a:endParaRPr lang="en-US" sz="3200" dirty="0"/>
          </a:p>
        </p:txBody>
      </p:sp>
      <p:sp>
        <p:nvSpPr>
          <p:cNvPr id="14" name="KpiNote3"/>
          <p:cNvSpPr txBox="1"/>
          <p:nvPr/>
        </p:nvSpPr>
        <p:spPr>
          <a:xfrm>
            <a:off x="483108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Profit ÷ Sales</a:t>
            </a:r>
            <a:endParaRPr lang="en-US" sz="1200" dirty="0"/>
          </a:p>
        </p:txBody>
      </p:sp>
      <p:sp>
        <p:nvSpPr>
          <p:cNvPr id="15" name="KpiCard4"/>
          <p:cNvSpPr/>
          <p:nvPr/>
        </p:nvSpPr>
        <p:spPr>
          <a:xfrm>
            <a:off x="676656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KpiLabel4"/>
          <p:cNvSpPr txBox="1"/>
          <p:nvPr/>
        </p:nvSpPr>
        <p:spPr>
          <a:xfrm>
            <a:off x="69037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17" name="KpiValue4"/>
          <p:cNvSpPr txBox="1"/>
          <p:nvPr/>
        </p:nvSpPr>
        <p:spPr>
          <a:xfrm>
            <a:off x="685800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1.401K</a:t>
            </a:r>
            <a:endParaRPr lang="en-US" sz="3200" dirty="0"/>
          </a:p>
        </p:txBody>
      </p:sp>
      <p:sp>
        <p:nvSpPr>
          <p:cNvPr id="18" name="KpiNote4"/>
          <p:cNvSpPr txBox="1"/>
          <p:nvPr/>
        </p:nvSpPr>
        <p:spPr>
          <a:xfrm>
            <a:off x="690372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 of Order ID</a:t>
            </a:r>
            <a:endParaRPr lang="en-US" sz="1200" dirty="0"/>
          </a:p>
        </p:txBody>
      </p:sp>
      <p:sp>
        <p:nvSpPr>
          <p:cNvPr id="19" name="KpiNoteCard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KpiNoteText"/>
          <p:cNvSpPr txBox="1"/>
          <p:nvPr/>
        </p:nvSpPr>
        <p:spPr>
          <a:xfrm>
            <a:off x="822960" y="3429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Figures are shown with the Region slicer set to East. Selecting Central, South or West updates every card and the trend chart instantly.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Task Requirements Covered</a:t>
            </a:r>
            <a:endParaRPr lang="en-US" sz="2800" dirty="0"/>
          </a:p>
        </p:txBody>
      </p:sp>
      <p:sp>
        <p:nvSpPr>
          <p:cNvPr id="3" name="ColHead1"/>
          <p:cNvSpPr txBox="1"/>
          <p:nvPr/>
        </p:nvSpPr>
        <p:spPr>
          <a:xfrm>
            <a:off x="54864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4" name="ColHead2"/>
          <p:cNvSpPr txBox="1"/>
          <p:nvPr/>
        </p:nvSpPr>
        <p:spPr>
          <a:xfrm>
            <a:off x="356616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HOW IT IS MET</a:t>
            </a:r>
            <a:endParaRPr lang="en-US" sz="1100" dirty="0"/>
          </a:p>
        </p:txBody>
      </p:sp>
      <p:sp>
        <p:nvSpPr>
          <p:cNvPr id="5" name="ColHead3"/>
          <p:cNvSpPr txBox="1"/>
          <p:nvPr/>
        </p:nvSpPr>
        <p:spPr>
          <a:xfrm>
            <a:off x="768096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STATUS</a:t>
            </a:r>
            <a:endParaRPr lang="en-US" sz="1100" dirty="0"/>
          </a:p>
        </p:txBody>
      </p:sp>
      <p:sp>
        <p:nvSpPr>
          <p:cNvPr id="6" name="RowLine1"/>
          <p:cNvSpPr/>
          <p:nvPr/>
        </p:nvSpPr>
        <p:spPr>
          <a:xfrm>
            <a:off x="548640" y="1463040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7" name="ReqText1"/>
          <p:cNvSpPr txBox="1"/>
          <p:nvPr/>
        </p:nvSpPr>
        <p:spPr>
          <a:xfrm>
            <a:off x="548640" y="1508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Right KPIs</a:t>
            </a:r>
            <a:endParaRPr lang="en-US" sz="1400" dirty="0"/>
          </a:p>
        </p:txBody>
      </p:sp>
      <p:sp>
        <p:nvSpPr>
          <p:cNvPr id="8" name="HowText1"/>
          <p:cNvSpPr txBox="1"/>
          <p:nvPr/>
        </p:nvSpPr>
        <p:spPr>
          <a:xfrm>
            <a:off x="3566160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Sales, Profit, Profit Margin and Orders</a:t>
            </a:r>
            <a:endParaRPr lang="en-US" sz="1300" dirty="0"/>
          </a:p>
        </p:txBody>
      </p:sp>
      <p:sp>
        <p:nvSpPr>
          <p:cNvPr id="9" name="StatusText1"/>
          <p:cNvSpPr txBox="1"/>
          <p:nvPr/>
        </p:nvSpPr>
        <p:spPr>
          <a:xfrm>
            <a:off x="7680960" y="15087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10" name="RowLine2"/>
          <p:cNvSpPr/>
          <p:nvPr/>
        </p:nvSpPr>
        <p:spPr>
          <a:xfrm>
            <a:off x="548640" y="1993392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1" name="ReqText2"/>
          <p:cNvSpPr txBox="1"/>
          <p:nvPr/>
        </p:nvSpPr>
        <p:spPr>
          <a:xfrm>
            <a:off x="548640" y="20391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Slicers / filters</a:t>
            </a:r>
            <a:endParaRPr lang="en-US" sz="1400" dirty="0"/>
          </a:p>
        </p:txBody>
      </p:sp>
      <p:sp>
        <p:nvSpPr>
          <p:cNvPr id="12" name="HowText2"/>
          <p:cNvSpPr txBox="1"/>
          <p:nvPr/>
        </p:nvSpPr>
        <p:spPr>
          <a:xfrm>
            <a:off x="3566160" y="20391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Region slicer (Central, East, South, West)</a:t>
            </a:r>
            <a:endParaRPr lang="en-US" sz="1300" dirty="0"/>
          </a:p>
        </p:txBody>
      </p:sp>
      <p:sp>
        <p:nvSpPr>
          <p:cNvPr id="13" name="StatusText2"/>
          <p:cNvSpPr txBox="1"/>
          <p:nvPr/>
        </p:nvSpPr>
        <p:spPr>
          <a:xfrm>
            <a:off x="7680960" y="20391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14" name="RowLine3"/>
          <p:cNvSpPr/>
          <p:nvPr/>
        </p:nvSpPr>
        <p:spPr>
          <a:xfrm>
            <a:off x="548640" y="2523744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ReqText3"/>
          <p:cNvSpPr txBox="1"/>
          <p:nvPr/>
        </p:nvSpPr>
        <p:spPr>
          <a:xfrm>
            <a:off x="548640" y="25694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Time-series analysis</a:t>
            </a:r>
            <a:endParaRPr lang="en-US" sz="1400" dirty="0"/>
          </a:p>
        </p:txBody>
      </p:sp>
      <p:sp>
        <p:nvSpPr>
          <p:cNvPr id="16" name="HowText3"/>
          <p:cNvSpPr txBox="1"/>
          <p:nvPr/>
        </p:nvSpPr>
        <p:spPr>
          <a:xfrm>
            <a:off x="3566160" y="25694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 chart: Sum of Sales by Order Date</a:t>
            </a:r>
            <a:endParaRPr lang="en-US" sz="1300" dirty="0"/>
          </a:p>
        </p:txBody>
      </p:sp>
      <p:sp>
        <p:nvSpPr>
          <p:cNvPr id="17" name="StatusText3"/>
          <p:cNvSpPr txBox="1"/>
          <p:nvPr/>
        </p:nvSpPr>
        <p:spPr>
          <a:xfrm>
            <a:off x="7680960" y="25694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18" name="RowLine4"/>
          <p:cNvSpPr/>
          <p:nvPr/>
        </p:nvSpPr>
        <p:spPr>
          <a:xfrm>
            <a:off x="548640" y="3054096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9" name="ReqText4"/>
          <p:cNvSpPr txBox="1"/>
          <p:nvPr/>
        </p:nvSpPr>
        <p:spPr>
          <a:xfrm>
            <a:off x="548640" y="30998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Cards for totals</a:t>
            </a:r>
            <a:endParaRPr lang="en-US" sz="1400" dirty="0"/>
          </a:p>
        </p:txBody>
      </p:sp>
      <p:sp>
        <p:nvSpPr>
          <p:cNvPr id="20" name="HowText4"/>
          <p:cNvSpPr txBox="1"/>
          <p:nvPr/>
        </p:nvSpPr>
        <p:spPr>
          <a:xfrm>
            <a:off x="3566160" y="30998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Four KPI cards at the top</a:t>
            </a:r>
            <a:endParaRPr lang="en-US" sz="1300" dirty="0"/>
          </a:p>
        </p:txBody>
      </p:sp>
      <p:sp>
        <p:nvSpPr>
          <p:cNvPr id="21" name="StatusText4"/>
          <p:cNvSpPr txBox="1"/>
          <p:nvPr/>
        </p:nvSpPr>
        <p:spPr>
          <a:xfrm>
            <a:off x="7680960" y="30998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22" name="RowLine5"/>
          <p:cNvSpPr/>
          <p:nvPr/>
        </p:nvSpPr>
        <p:spPr>
          <a:xfrm>
            <a:off x="548640" y="3584448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3" name="ReqText5"/>
          <p:cNvSpPr txBox="1"/>
          <p:nvPr/>
        </p:nvSpPr>
        <p:spPr>
          <a:xfrm>
            <a:off x="548640" y="36301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Consistent color theme</a:t>
            </a:r>
            <a:endParaRPr lang="en-US" sz="1400" dirty="0"/>
          </a:p>
        </p:txBody>
      </p:sp>
      <p:sp>
        <p:nvSpPr>
          <p:cNvPr id="24" name="HowText5"/>
          <p:cNvSpPr txBox="1"/>
          <p:nvPr/>
        </p:nvSpPr>
        <p:spPr>
          <a:xfrm>
            <a:off x="3566160" y="3630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Rounded cards, grey canvas, purple accent</a:t>
            </a:r>
            <a:endParaRPr lang="en-US" sz="1300" dirty="0"/>
          </a:p>
        </p:txBody>
      </p:sp>
      <p:sp>
        <p:nvSpPr>
          <p:cNvPr id="25" name="StatusText5"/>
          <p:cNvSpPr txBox="1"/>
          <p:nvPr/>
        </p:nvSpPr>
        <p:spPr>
          <a:xfrm>
            <a:off x="7680960" y="36301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26" name="RowLine6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7" name="ReqText6"/>
          <p:cNvSpPr txBox="1"/>
          <p:nvPr/>
        </p:nvSpPr>
        <p:spPr>
          <a:xfrm>
            <a:off x="548640" y="41605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Navigation menu</a:t>
            </a:r>
            <a:endParaRPr lang="en-US" sz="1400" dirty="0"/>
          </a:p>
        </p:txBody>
      </p:sp>
      <p:sp>
        <p:nvSpPr>
          <p:cNvPr id="28" name="HowText6"/>
          <p:cNvSpPr txBox="1"/>
          <p:nvPr/>
        </p:nvSpPr>
        <p:spPr>
          <a:xfrm>
            <a:off x="3566160" y="4160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Optional, planned as a next step</a:t>
            </a:r>
            <a:endParaRPr lang="en-US" sz="1300" dirty="0"/>
          </a:p>
        </p:txBody>
      </p:sp>
      <p:sp>
        <p:nvSpPr>
          <p:cNvPr id="29" name="StatusText6"/>
          <p:cNvSpPr txBox="1"/>
          <p:nvPr/>
        </p:nvSpPr>
        <p:spPr>
          <a:xfrm>
            <a:off x="7680960" y="41605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Takeaways &amp; Next Steps</a:t>
            </a:r>
            <a:endParaRPr lang="en-US" sz="2800" dirty="0"/>
          </a:p>
        </p:txBody>
      </p:sp>
      <p:sp>
        <p:nvSpPr>
          <p:cNvPr id="3" name="TakeawaysCard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akeawaysHead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Key takeaways</a:t>
            </a:r>
            <a:endParaRPr lang="en-US" sz="1700" dirty="0"/>
          </a:p>
        </p:txBody>
      </p:sp>
      <p:sp>
        <p:nvSpPr>
          <p:cNvPr id="5" name="TakeawaysList"/>
          <p:cNvSpPr txBox="1"/>
          <p:nvPr/>
        </p:nvSpPr>
        <p:spPr>
          <a:xfrm>
            <a:off x="77724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East region delivered 678.78K in sales and 91.52K in profit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Profit margin stands at 13.48% (profit ÷ sales)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1.401K orders are counted in the selected region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Region slicer lets stakeholders compare all four regions</a:t>
            </a:r>
            <a:endParaRPr lang="en-US" sz="1300" dirty="0"/>
          </a:p>
        </p:txBody>
      </p:sp>
      <p:sp>
        <p:nvSpPr>
          <p:cNvPr id="6" name="NextStepsCard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NextStepsHead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8" name="NextStepsList"/>
          <p:cNvSpPr txBox="1"/>
          <p:nvPr/>
        </p:nvSpPr>
        <p:spPr>
          <a:xfrm>
            <a:off x="489204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Sort the trend chart by Order Date (Year → Month) to show true growth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a Growth % KPI (year over year)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a navigation menu and Category / Segment 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Compare regions side by side with a bar chart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board Summary">
  <a:themeElements>
    <a:clrScheme name="Dashboard Summary">
      <a:dk1>
        <a:srgbClr val="1F2937"/>
      </a:dk1>
      <a:lt1>
        <a:srgbClr val="FFFFFF"/>
      </a:lt1>
      <a:dk2>
        <a:srgbClr val="4C1D95"/>
      </a:dk2>
      <a:lt2>
        <a:srgbClr val="F5F3FF"/>
      </a:lt2>
      <a:accent1>
        <a:srgbClr val="7C3AED"/>
      </a:accent1>
      <a:accent2>
        <a:srgbClr val="F97316"/>
      </a:accent2>
      <a:accent3>
        <a:srgbClr val="10B981"/>
      </a:accent3>
      <a:accent4>
        <a:srgbClr val="3B82F6"/>
      </a:accent4>
      <a:accent5>
        <a:srgbClr val="EC4899"/>
      </a:accent5>
      <a:accent6>
        <a:srgbClr val="6B7280"/>
      </a:accent6>
      <a:hlink>
        <a:srgbClr val="7C3AED"/>
      </a:hlink>
      <a:folHlink>
        <a:srgbClr val="6B7280"/>
      </a:folHlink>
    </a:clrScheme>
    <a:fontScheme name="Dashboard Summa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2026-10-06T15:02:14Z</dcterms:created>
  <dcterms:modified xsi:type="dcterms:W3CDTF">2026-10-06T15:02:14Z</dcterms:modified>
</cp:coreProperties>
</file>